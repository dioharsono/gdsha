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15a335f4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b15a335f4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b15a335f4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15a335f4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15a335f4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b15a335f4b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5a335f4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5a335f4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b15a335f4b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15a335f4b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15a335f4b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15a335f4b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5a335f4b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15a335f4b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b15a335f4b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15a335f4b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15a335f4b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b15a335f4b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5a335f4b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15a335f4b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15a335f4b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7072bf2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17072bf2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17072bf2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5a335f4b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15a335f4b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15a335f4b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 - Text und Bild">
  <p:cSld name="1_Titel - Text und Bild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>
            <p:ph idx="2" type="pic"/>
          </p:nvPr>
        </p:nvSpPr>
        <p:spPr>
          <a:xfrm>
            <a:off x="-6479" y="1260572"/>
            <a:ext cx="8885400" cy="327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15" name="Google Shape;15;p2"/>
          <p:cNvSpPr txBox="1"/>
          <p:nvPr/>
        </p:nvSpPr>
        <p:spPr>
          <a:xfrm>
            <a:off x="-2031023" y="2620375"/>
            <a:ext cx="20214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Platzhalterbild ersetzen:</a:t>
            </a:r>
            <a:br>
              <a:rPr b="1"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löschen und durch neues Bild ersetzen &gt; über Bildformat &gt; Zuschneiden im Rahmen ggf. nachpositionieren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Copyrightangabe: 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Korrektes Copyright angeben (in der Regel Name des*der Fotograf*in), Textfarbe je nach Hintergrund weiß oder schwarz</a:t>
            </a:r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9903" y="-313433"/>
            <a:ext cx="1703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V1: Titelfolie mit Bild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 - Text ">
  <p:cSld name="2_Titel - Text 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9903" y="-313433"/>
            <a:ext cx="1703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V2: Titelfolie ohne Bild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nhalt - Text und Stichpunkte">
  <p:cSld name="3_Inhalt - Text und Stichpunkt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550800" y="3175200"/>
            <a:ext cx="972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342900" lvl="0" marL="457200" marR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550800" y="1371600"/>
            <a:ext cx="97218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nhalt - Bild und Text">
  <p:cSld name="4_Inhalt - Bild und 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6519600" y="1382400"/>
            <a:ext cx="3982800" cy="4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/>
          <p:nvPr>
            <p:ph idx="2" type="pic"/>
          </p:nvPr>
        </p:nvSpPr>
        <p:spPr>
          <a:xfrm>
            <a:off x="550861" y="1381405"/>
            <a:ext cx="5545200" cy="409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33" name="Google Shape;33;p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Inhalt - Bild und Stichpunkte">
  <p:cSld name="5_Inhalt - Bild und Stichpunkt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550861" y="1381405"/>
            <a:ext cx="5545200" cy="409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1668462"/>
            <a:ext cx="12192000" cy="5189537"/>
          </a:xfrm>
          <a:custGeom>
            <a:rect b="b" l="l" r="r" t="t"/>
            <a:pathLst>
              <a:path extrusionOk="0" h="5189537" w="12192000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/>
        </p:nvSpPr>
        <p:spPr>
          <a:xfrm>
            <a:off x="12292755" y="5534561"/>
            <a:ext cx="31023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Titelseiten – Platzhalter für Sublogo ändern: </a:t>
            </a: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Direkt auf dieser Folie &gt; Bild anklicken &gt; Rechtsklick &gt; Bild einfügen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-DE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pos="1232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orient="horz" pos="1003">
          <p15:clr>
            <a:srgbClr val="F26B43"/>
          </p15:clr>
        </p15:guide>
        <p15:guide id="8" orient="horz" pos="1321">
          <p15:clr>
            <a:srgbClr val="F26B43"/>
          </p15:clr>
        </p15:guide>
        <p15:guide id="9" orient="horz" pos="1661">
          <p15:clr>
            <a:srgbClr val="F26B43"/>
          </p15:clr>
        </p15:guide>
        <p15:guide id="10" orient="horz" pos="2001">
          <p15:clr>
            <a:srgbClr val="F26B43"/>
          </p15:clr>
        </p15:guide>
        <p15:guide id="11" orient="horz" pos="3339">
          <p15:clr>
            <a:srgbClr val="F26B43"/>
          </p15:clr>
        </p15:guide>
        <p15:guide id="12" orient="horz" pos="2319">
          <p15:clr>
            <a:srgbClr val="F26B43"/>
          </p15:clr>
        </p15:guide>
        <p15:guide id="13" orient="horz" pos="2999">
          <p15:clr>
            <a:srgbClr val="F26B43"/>
          </p15:clr>
        </p15:guide>
        <p15:guide id="14" orient="horz" pos="3657">
          <p15:clr>
            <a:srgbClr val="F26B43"/>
          </p15:clr>
        </p15:guide>
        <p15:guide id="15" orient="horz" pos="2659">
          <p15:clr>
            <a:srgbClr val="F26B43"/>
          </p15:clr>
        </p15:guide>
        <p15:guide id="16" pos="2094">
          <p15:clr>
            <a:srgbClr val="F26B43"/>
          </p15:clr>
        </p15:guide>
        <p15:guide id="17" pos="2978">
          <p15:clr>
            <a:srgbClr val="F26B43"/>
          </p15:clr>
        </p15:guide>
        <p15:guide id="18" pos="3840">
          <p15:clr>
            <a:srgbClr val="F26B43"/>
          </p15:clr>
        </p15:guide>
        <p15:guide id="19" pos="4725">
          <p15:clr>
            <a:srgbClr val="F26B43"/>
          </p15:clr>
        </p15:guide>
        <p15:guide id="20" pos="5586">
          <p15:clr>
            <a:srgbClr val="F26B43"/>
          </p15:clr>
        </p15:guide>
        <p15:guide id="21" pos="647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748124"/>
            <a:ext cx="12195175" cy="1109875"/>
          </a:xfrm>
          <a:custGeom>
            <a:rect b="b" l="l" r="r" t="t"/>
            <a:pathLst>
              <a:path extrusionOk="0" h="1109875" w="121951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14598" y="378000"/>
            <a:ext cx="1004400" cy="7660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12292755" y="5612990"/>
            <a:ext cx="31023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Folgeseiten – Platzhalter für Sublogo ändern: </a:t>
            </a: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 &gt; Bild anklicken &gt; Rechtsklick &gt; Bild einfügen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-2243920" y="6474756"/>
            <a:ext cx="22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Informationen in Fußzeile ändern:</a:t>
            </a:r>
            <a:b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569850" y="6399924"/>
            <a:ext cx="107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de-DE" sz="1200">
                <a:solidFill>
                  <a:schemeClr val="lt1"/>
                </a:solidFill>
              </a:rPr>
              <a:t>S</a:t>
            </a:r>
            <a:r>
              <a:rPr lang="de-DE" sz="1200">
                <a:solidFill>
                  <a:schemeClr val="lt1"/>
                </a:solidFill>
              </a:rPr>
              <a:t>eite</a:t>
            </a:r>
            <a:r>
              <a:rPr lang="de-DE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fld id="{00000000-1234-1234-1234-123412341234}" type="slidenum">
              <a:rPr lang="de-DE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8940900" y="6399925"/>
            <a:ext cx="325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de-DE" sz="1200">
                <a:solidFill>
                  <a:schemeClr val="lt1"/>
                </a:solidFill>
              </a:rPr>
              <a:t>Grundlagen der Spurführung 18.12.2025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2360400" y="2636850"/>
            <a:ext cx="7471200" cy="1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100">
                <a:solidFill>
                  <a:schemeClr val="lt1"/>
                </a:solidFill>
              </a:rPr>
              <a:t>Präsentation der Ergebnisse </a:t>
            </a:r>
            <a:endParaRPr sz="4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>
                <a:solidFill>
                  <a:schemeClr val="lt1"/>
                </a:solidFill>
              </a:rPr>
              <a:t>Hausaufgabe 1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2300">
                <a:solidFill>
                  <a:schemeClr val="lt1"/>
                </a:solidFill>
              </a:rPr>
              <a:t>Grundlagen der Spurführung WiSe 2025/26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4848125" y="6308725"/>
            <a:ext cx="70623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de-DE" sz="1300">
                <a:solidFill>
                  <a:schemeClr val="lt1"/>
                </a:solidFill>
              </a:rPr>
              <a:t>Gruppe B: Dio Aldino Harsono(389530),Jakob Holland (468711),Melvin Kristantokusumo(518996),Rico Sebastian Tamin (504885)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8"/>
          <p:cNvSpPr txBox="1"/>
          <p:nvPr/>
        </p:nvSpPr>
        <p:spPr>
          <a:xfrm rot="-5400000">
            <a:off x="8815469" y="1259575"/>
            <a:ext cx="691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Philipp Arnoldt</a:t>
            </a:r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4165575" y="6596400"/>
            <a:ext cx="7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" type="body"/>
          </p:nvPr>
        </p:nvSpPr>
        <p:spPr>
          <a:xfrm>
            <a:off x="550800" y="1791225"/>
            <a:ext cx="9721800" cy="29553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de-DE" sz="2100">
                <a:solidFill>
                  <a:srgbClr val="000000"/>
                </a:solidFill>
              </a:rPr>
              <a:t>Betrachtung der Zugkraft der Lok während der Beschleunigung bis 120 km/h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de-DE" sz="2100">
                <a:solidFill>
                  <a:srgbClr val="000000"/>
                </a:solidFill>
              </a:rPr>
              <a:t>Nur Beschleunigung, keine Kollision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de-DE" sz="2100">
                <a:solidFill>
                  <a:srgbClr val="000000"/>
                </a:solidFill>
              </a:rPr>
              <a:t>Geschwindigkeit in 0,5 km/h-Schritten → 241 Iterationen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de-DE" sz="2100">
                <a:solidFill>
                  <a:srgbClr val="000000"/>
                </a:solidFill>
              </a:rPr>
              <a:t>Zugkraft wird für jede Geschwindigkeit berechnet</a:t>
            </a:r>
            <a:endParaRPr sz="2100"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de-DE" sz="2100">
                <a:solidFill>
                  <a:srgbClr val="000000"/>
                </a:solidFill>
              </a:rPr>
              <a:t>Zwei Zugkraftbereiche:</a:t>
            </a:r>
            <a:endParaRPr sz="2100">
              <a:solidFill>
                <a:srgbClr val="000000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de-DE" sz="2100">
                <a:solidFill>
                  <a:srgbClr val="000000"/>
                </a:solidFill>
              </a:rPr>
              <a:t>vor dem Leistungseckpunkt</a:t>
            </a:r>
            <a:endParaRPr sz="2100">
              <a:solidFill>
                <a:srgbClr val="000000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de-DE" sz="2100">
                <a:solidFill>
                  <a:srgbClr val="000000"/>
                </a:solidFill>
              </a:rPr>
              <a:t>nach dem Leistungseckpunkt bei v=21 km/h</a:t>
            </a:r>
            <a:endParaRPr sz="2100"/>
          </a:p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550800" y="1371600"/>
            <a:ext cx="9721800" cy="4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200">
                <a:solidFill>
                  <a:srgbClr val="000000"/>
                </a:solidFill>
              </a:rPr>
              <a:t>Erstellen ein Z-v Diagramm, X-Achse: Geschwindigkeit [km/h], y-Achse: Zugkraft  [kN]</a:t>
            </a:r>
            <a:endParaRPr sz="1200"/>
          </a:p>
        </p:txBody>
      </p:sp>
      <p:sp>
        <p:nvSpPr>
          <p:cNvPr id="53" name="Google Shape;53;p9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Lösungsweg - Aufgabe 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550800" y="5251125"/>
            <a:ext cx="9721800" cy="4434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rgbClr val="000000"/>
                </a:solidFill>
              </a:rPr>
              <a:t>Skizze Interpretation: Die Zugkraft verläuft bis zum Leistungseckpunkt linear (lineare Funktion), danach verläuft sie bis 120 km/h hyperbolisch weiter unten (n/x ist eine hyperbolische Funktion).</a:t>
            </a:r>
            <a:endParaRPr sz="1200"/>
          </a:p>
        </p:txBody>
      </p:sp>
      <p:sp>
        <p:nvSpPr>
          <p:cNvPr id="60" name="Google Shape;60;p10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Skizze - Aufgabe A</a:t>
            </a:r>
            <a:endParaRPr/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250" y="1355750"/>
            <a:ext cx="5552325" cy="36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550800" y="1791225"/>
            <a:ext cx="10273800" cy="27399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de-DE" sz="2500">
                <a:solidFill>
                  <a:srgbClr val="000000"/>
                </a:solidFill>
              </a:rPr>
              <a:t>Betrachtung der Bremskraft eines Wagens von 120 km/h bis 0 km/h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de-DE" sz="2500">
                <a:solidFill>
                  <a:srgbClr val="000000"/>
                </a:solidFill>
              </a:rPr>
              <a:t>Geschwindigkeit in 0,5 km/h-Schritten → 241 Iterationen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de-DE" sz="2500">
                <a:solidFill>
                  <a:srgbClr val="000000"/>
                </a:solidFill>
              </a:rPr>
              <a:t>Leere Matrix zur Speicherung der Bremskräfte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lang="de-DE" sz="2500">
                <a:solidFill>
                  <a:srgbClr val="000000"/>
                </a:solidFill>
              </a:rPr>
              <a:t>Berechnung der Bremskraft für jede Geschwindigkeit mithilfe der gegebenen Formeln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550800" y="1371600"/>
            <a:ext cx="9721800" cy="4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200">
                <a:solidFill>
                  <a:srgbClr val="000000"/>
                </a:solidFill>
              </a:rPr>
              <a:t>Bremskraftsdiagramm eines Wagens (B-v Diagramm), X-Achse: Geschwindigkeit[km/h], y-Achse: Bremskraft [kN]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</a:endParaRPr>
          </a:p>
        </p:txBody>
      </p:sp>
      <p:sp>
        <p:nvSpPr>
          <p:cNvPr id="69" name="Google Shape;69;p11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Lösungsweg - Aufgabe 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550800" y="5251125"/>
            <a:ext cx="9721800" cy="4434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rgbClr val="000000"/>
                </a:solidFill>
              </a:rPr>
              <a:t>Skizze Interpretation: </a:t>
            </a:r>
            <a:r>
              <a:rPr lang="de-DE" sz="1200">
                <a:solidFill>
                  <a:srgbClr val="000000"/>
                </a:solidFill>
              </a:rPr>
              <a:t>Die Bremskraft verläuft von 0 km/h bis 120km/h überall hyperbel. Analog zu der Bremsfunktion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76" name="Google Shape;76;p12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Skizze - Aufgabe B</a:t>
            </a:r>
            <a:endParaRPr/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651" y="1237175"/>
            <a:ext cx="5882225" cy="38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550800" y="1791225"/>
            <a:ext cx="10273800" cy="43284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de-DE" sz="1600">
                <a:solidFill>
                  <a:srgbClr val="000000"/>
                </a:solidFill>
              </a:rPr>
              <a:t>Gesucht werden Geschwindigkeit v (Eulerverfahren), Weg s (Trapezregel) und Zeit 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de-DE" sz="1600">
                <a:solidFill>
                  <a:srgbClr val="000000"/>
                </a:solidFill>
              </a:rPr>
              <a:t>Alle Variablen werden initialisiert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de-DE" sz="1600">
                <a:solidFill>
                  <a:srgbClr val="000000"/>
                </a:solidFill>
              </a:rPr>
              <a:t>Iterationsschleife</a:t>
            </a:r>
            <a:r>
              <a:rPr lang="de-DE" sz="1600">
                <a:solidFill>
                  <a:srgbClr val="000000"/>
                </a:solidFill>
              </a:rPr>
              <a:t>, die läuft, bis eine Abbruchbedingung erfüllt ist: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de-DE" sz="1600">
                <a:solidFill>
                  <a:srgbClr val="000000"/>
                </a:solidFill>
              </a:rPr>
              <a:t>v≤120km/h erreicht oder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de-DE" sz="1600">
                <a:solidFill>
                  <a:srgbClr val="000000"/>
                </a:solidFill>
              </a:rPr>
              <a:t>der Zug den Bahnübergang erreicht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de-DE" sz="1600">
                <a:solidFill>
                  <a:srgbClr val="000000"/>
                </a:solidFill>
              </a:rPr>
              <a:t>Rechnung erfolgt geschwindigkeitsabhängig</a:t>
            </a:r>
            <a:endParaRPr sz="1600"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000000"/>
                </a:solidFill>
              </a:rPr>
              <a:t>Kraft am Zug: 			</a:t>
            </a:r>
            <a:r>
              <a:rPr lang="de-DE" sz="2400">
                <a:solidFill>
                  <a:srgbClr val="000000"/>
                </a:solidFill>
              </a:rPr>
              <a:t>F = Z(v) - W(v)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rgbClr val="000000"/>
                </a:solidFill>
              </a:rPr>
              <a:t>Z(v): aus Z-v-Diagramm (Lookup)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rgbClr val="000000"/>
                </a:solidFill>
              </a:rPr>
              <a:t>W(v): Laufwiderstand nach Strahl) -&gt; </a:t>
            </a:r>
            <a:r>
              <a:rPr lang="de-DE" sz="1600">
                <a:solidFill>
                  <a:srgbClr val="000000"/>
                </a:solidFill>
              </a:rPr>
              <a:t>Spezifischer</a:t>
            </a:r>
            <a:r>
              <a:rPr lang="de-DE" sz="1600">
                <a:solidFill>
                  <a:srgbClr val="000000"/>
                </a:solidFill>
              </a:rPr>
              <a:t> Widerstand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eriod"/>
            </a:pPr>
            <a:r>
              <a:rPr lang="de-DE" sz="1600">
                <a:solidFill>
                  <a:srgbClr val="000000"/>
                </a:solidFill>
              </a:rPr>
              <a:t>c1 und c2 Werte aus Übung</a:t>
            </a:r>
            <a:br>
              <a:rPr lang="de-DE" sz="1600">
                <a:solidFill>
                  <a:srgbClr val="000000"/>
                </a:solidFill>
              </a:rPr>
            </a:br>
            <a:r>
              <a:rPr lang="de-DE" sz="1600">
                <a:solidFill>
                  <a:srgbClr val="000000"/>
                </a:solidFill>
              </a:rPr>
              <a:t>c1= 1,4   c2= 0,04</a:t>
            </a:r>
            <a:br>
              <a:rPr lang="de-DE" sz="16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550800" y="1371600"/>
            <a:ext cx="9721800" cy="4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>
                <a:solidFill>
                  <a:srgbClr val="212121"/>
                </a:solidFill>
              </a:rPr>
              <a:t>Wie schnell verändert sich die Geschwindigkeit des Zuges im Laufe der Zeit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5" name="Google Shape;85;p13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Lösungsweg - Aufgabe C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525" y="5256750"/>
            <a:ext cx="4739075" cy="5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550800" y="1260400"/>
            <a:ext cx="10273800" cy="30162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Aus F wird die Beschleunigung bestimmt</a:t>
            </a:r>
            <a:br>
              <a:rPr lang="de-DE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Eulerverfahren:</a:t>
            </a:r>
            <a:br>
              <a:rPr lang="de-DE" sz="1700">
                <a:solidFill>
                  <a:srgbClr val="000000"/>
                </a:solidFill>
              </a:rPr>
            </a:br>
            <a:br>
              <a:rPr lang="de-DE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Wegberechnung mit Trapezregel aus Geschwindigkeit und Zeit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Gesamtzeit = Summe aller Zeitschritte (dt)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Abbruch der Schleife, sobald eine Bedingung erfüllt ist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Ergebnisse: erreichte Geschwindigkeit (120 km/h oder Geschwindigkeit am Unfallort), Zeit bis dahin und zurückgelegter Weg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93" name="Google Shape;93;p14"/>
          <p:cNvSpPr txBox="1"/>
          <p:nvPr>
            <p:ph idx="3" type="body"/>
          </p:nvPr>
        </p:nvSpPr>
        <p:spPr>
          <a:xfrm>
            <a:off x="550792" y="38419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Lösungsweg - Aufgabe C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147" y="2088425"/>
            <a:ext cx="2806400" cy="56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3425" y="1236313"/>
            <a:ext cx="3672589" cy="7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550800" y="1779375"/>
            <a:ext cx="10273800" cy="18123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Gesucht: Geschwindigkeit v(t), Weg s(t), Zeit t während der Schnellbremsung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Char char="●"/>
            </a:pPr>
            <a:r>
              <a:rPr lang="de-DE" sz="1700">
                <a:solidFill>
                  <a:srgbClr val="000000"/>
                </a:solidFill>
              </a:rPr>
              <a:t>Euler-Verfahren (dt = 0,025 s)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Char char="●"/>
            </a:pPr>
            <a:r>
              <a:rPr lang="de-DE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Trapezregel für Wegberechnung</a:t>
            </a:r>
            <a:r>
              <a:rPr lang="de-DE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s = s + v*dt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Char char="●"/>
            </a:pPr>
            <a:r>
              <a:rPr lang="de-DE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Schwellzeit berücksichtigt: Bremskraft baut sich linear in ersten fünf Sekunden auf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Char char="●"/>
            </a:pPr>
            <a:r>
              <a:rPr lang="de-DE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Kraft am Zug: F = -[B_Lok + 20 * B_Wagen(v)]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/>
              <a:buChar char="●"/>
            </a:pPr>
            <a:r>
              <a:rPr lang="de-DE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Abbruchbedingung: v &lt;= 37 km/h (Kollisionsgeschwindigkeit)]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 txBox="1"/>
          <p:nvPr>
            <p:ph idx="3" type="body"/>
          </p:nvPr>
        </p:nvSpPr>
        <p:spPr>
          <a:xfrm>
            <a:off x="550792" y="38419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Lösungsweg - Aufgabe D</a:t>
            </a:r>
            <a:endParaRPr/>
          </a:p>
        </p:txBody>
      </p:sp>
      <p:sp>
        <p:nvSpPr>
          <p:cNvPr id="103" name="Google Shape;103;p15"/>
          <p:cNvSpPr txBox="1"/>
          <p:nvPr>
            <p:ph idx="2" type="body"/>
          </p:nvPr>
        </p:nvSpPr>
        <p:spPr>
          <a:xfrm>
            <a:off x="550800" y="1396175"/>
            <a:ext cx="9721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>
                <a:solidFill>
                  <a:srgbClr val="212121"/>
                </a:solidFill>
              </a:rPr>
              <a:t>Annähern des Bremsvorgangs des gesamten Zugs</a:t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idx="3" type="body"/>
          </p:nvPr>
        </p:nvSpPr>
        <p:spPr>
          <a:xfrm>
            <a:off x="555867" y="39654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Skizze - Aufgabe D)</a:t>
            </a:r>
            <a:endParaRPr/>
          </a:p>
        </p:txBody>
      </p:sp>
      <p:pic>
        <p:nvPicPr>
          <p:cNvPr id="110" name="Google Shape;110;p16" title="Bremsung unfall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675" y="1266245"/>
            <a:ext cx="421005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title="Bremsung unfall1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2125" y="1266245"/>
            <a:ext cx="43815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550800" y="1779375"/>
            <a:ext cx="10273800" cy="21135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de-DE" sz="1700">
                <a:solidFill>
                  <a:srgbClr val="000000"/>
                </a:solidFill>
              </a:rPr>
              <a:t>Kernpunkte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de-DE" sz="1700">
                <a:solidFill>
                  <a:srgbClr val="000000"/>
                </a:solidFill>
              </a:rPr>
              <a:t>Gesamtstrecke = 3,583 km (gegeben)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de-DE" sz="1700">
                <a:solidFill>
                  <a:srgbClr val="000000"/>
                </a:solidFill>
              </a:rPr>
              <a:t>Gesamtstrecke = Beschleunigungsweg + Bremsweg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de-DE" sz="1700">
                <a:solidFill>
                  <a:srgbClr val="000000"/>
                </a:solidFill>
              </a:rPr>
              <a:t>Ziel : v0 so variieren, dass : s_Beschl + s_Brems = 3,583 km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de-DE" sz="1700">
                <a:solidFill>
                  <a:srgbClr val="000000"/>
                </a:solidFill>
              </a:rPr>
              <a:t>Iterationsstrategie: Binärsuche oder systematisches Probieren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de-DE" sz="1700">
                <a:solidFill>
                  <a:srgbClr val="000000"/>
                </a:solidFill>
              </a:rPr>
              <a:t>Schleife über verschiedene Anfangsgeschwindigkeiten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de-DE" sz="1700">
                <a:solidFill>
                  <a:srgbClr val="000000"/>
                </a:solidFill>
              </a:rPr>
              <a:t>Abbruch, wenn Bedingung erfüllt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18" name="Google Shape;118;p17"/>
          <p:cNvSpPr txBox="1"/>
          <p:nvPr>
            <p:ph idx="3" type="body"/>
          </p:nvPr>
        </p:nvSpPr>
        <p:spPr>
          <a:xfrm>
            <a:off x="550792" y="384195"/>
            <a:ext cx="8311800" cy="7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Lösungsweg - Aufgabe E</a:t>
            </a:r>
            <a:endParaRPr/>
          </a:p>
        </p:txBody>
      </p:sp>
      <p:sp>
        <p:nvSpPr>
          <p:cNvPr id="119" name="Google Shape;119;p17"/>
          <p:cNvSpPr txBox="1"/>
          <p:nvPr>
            <p:ph idx="2" type="body"/>
          </p:nvPr>
        </p:nvSpPr>
        <p:spPr>
          <a:xfrm>
            <a:off x="550800" y="1396175"/>
            <a:ext cx="9721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500">
                <a:solidFill>
                  <a:srgbClr val="212121"/>
                </a:solidFill>
              </a:rPr>
              <a:t>Optimierung der Bremsanfangsgeschwindigkeit</a:t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